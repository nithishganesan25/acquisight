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SMART INDIA HACKATHON 2024 / REVENUE GOVERNANCE INNOVATION</a:t>
            </a:r>
          </a:p>
          <a:p>
            <a:pPr>
              <a:defRPr sz="5000" b="1">
                <a:solidFill>
                  <a:srgbClr val="F8FAFC"/>
                </a:solidFill>
              </a:defRPr>
            </a:pPr>
            <a:r>
              <a:t>ACQUISIGHT</a:t>
            </a:r>
          </a:p>
          <a:p>
            <a:pPr>
              <a:spcBef>
                <a:spcPts val="800"/>
              </a:spcBef>
              <a:defRPr sz="2000">
                <a:solidFill>
                  <a:srgbClr val="0EA5E9"/>
                </a:solidFill>
              </a:defRPr>
            </a:pPr>
            <a:r>
              <a:t>Intelligent Land Acquisition Risk Prediction &amp; Geospatial Governance Platform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A machine-learning-driven decision support system designed to preempt litigation delays, enforce statutory RFCTLARR compliance, and provide transparent geospatial analytics for public infrastructure projects.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9377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Built with: FastAPI · Scikit-Learn · React 18 · TypeScript · Leaflet GIS · Firebase Auth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PROBLEM STATEMENT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Land Acquisition Crisis in Public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103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01. Disputed Land Records &amp; Multiple Ownership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Discrepancies across Patta, Chitta, and unregistered subdivisions create sudden high-court stay orders, freezing mega-projects.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103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02. Statutory Timeline Breaches (RFCTLARR 2013)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Sections 11 &amp; 19 notifications expire unnoticed without predictive tracking, requiring expensive restarts and compensation penalties.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57800" cy="2103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03. Siloed Geospatial &amp; Revenue Data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Officers lack a unified map displaying revenue survey boundaries together with encroachment overlays and risk heatmaps.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257800" cy="2103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690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04. Compounding Public Debt &amp; Cost Escalation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Average project delay spans 2.4+ years, causing billions of rupees in cost overruns and idling national capital.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THE SOLUTION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ACQUISIGHT: Proactive Geospatial &amp; Predictive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Predictive ML Risk Engine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Gradient boosting and regression models trained on historical acquisition datasets to forecast delay days and classify risk levels before tenders are awarded.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Interactive GIS Mapping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Vector and satellite parcel mapping linked with live revenue survey numbers, boundary polygons, and dynamic risk-tier color coding.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Explainable AI (SHAP)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Every delay score provides transparent feature importance breakdowns: why a parcel is high-risk and what corrective actions officers must take.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Action Intelligence &amp; Copilot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Context-grounded assistant for automated statutory notifications, compensation calculator, and safe model retraining on real official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DESIGN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Full-Stack Enterprise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Presentation Layer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React 18 + Vite + TailwindCSS 4</a:t>
            </a:r>
            <a:br/>
            <a:r>
              <a:t>• Shadcn/UI component library</a:t>
            </a:r>
            <a:br/>
            <a:r>
              <a:t>• Leaflet GIS interactive map engine</a:t>
            </a:r>
            <a:br/>
            <a:r>
              <a:t>• Recharts risk &amp; analytics visuals</a:t>
            </a:r>
            <a:br/>
            <a:r>
              <a:t>• Lucide iconography &amp; Theme switching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Intelligence &amp; API Layer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FastAPI (Python 3.11)</a:t>
            </a:r>
            <a:br/>
            <a:r>
              <a:t>• Asynchronous REST endpoints</a:t>
            </a:r>
            <a:br/>
            <a:r>
              <a:t>• Explainability engine (SHAP / tree importances)</a:t>
            </a:r>
            <a:br/>
            <a:r>
              <a:t>• Chat service grounded on official case records</a:t>
            </a:r>
            <a:br/>
            <a:r>
              <a:t>• Safe model retraining worker with rollback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Data &amp; Models Layer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Pre-trained ML Pipelines</a:t>
            </a:r>
            <a:br/>
            <a:r>
              <a:t>• Delay Regression Pipeline (PKL)</a:t>
            </a:r>
            <a:br/>
            <a:r>
              <a:t>• Risk Classifier Pipeline (PKL)</a:t>
            </a:r>
            <a:br/>
            <a:r>
              <a:t>• Tamil Nadu processed land record datasets</a:t>
            </a:r>
            <a:br/>
            <a:r>
              <a:t>• GIS geo-coordinates &amp; spatial indices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73736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Security &amp; Auth Layer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Firebase Auth &amp; Role RBAC</a:t>
            </a:r>
            <a:br/>
            <a:r>
              <a:t>• Verified officer credential verification</a:t>
            </a:r>
            <a:br/>
            <a:r>
              <a:t>• Protected API middleware tokens</a:t>
            </a:r>
            <a:br/>
            <a:r>
              <a:t>• Tamper-proof activity audit logging</a:t>
            </a:r>
            <a:br/>
            <a:r>
              <a:t>• Production CORS &amp; security headers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FEATURE SHOWCASE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Geospatial Intelligence (GIS Map)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Key GIS Capabilities: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Hybrid Base Maps: Seamlessly switch between OpenStreetMap road network and high-resolution Esri World Imagery satellite view.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Revenue Survey Overlays: Live parcel pins and clickable boundaries with village, taluk, and survey number metadata.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Risk-Based Choropleth: Parcels visually encoded by predictive risk (Green: Normal, Yellow: Moderate, Red: Critical).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Spatial Filters: Instant filtering by Taluk, acquisition phase, land classification (Dry, Wet, Industrial), and dispute status.</a:t>
            </a:r>
          </a:p>
        </p:txBody>
      </p:sp>
      <p:pic>
        <p:nvPicPr>
          <p:cNvPr id="6" name="Picture 5" descr="clean_satellite_gi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MACHINE LEARNING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Explainable Delay Prediction &amp; Risk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6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How ACQUISIGHT Solves the 'Black Box' AI Problem for Government Officers: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▶ Dual Pipeline Prediction: A continuous regression model predicts expected project delay in exact days, while a multi-class classifier assigns a structured severity tier (Low, Medium, High, Critical).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▶ SHAP-Derived Factor Attribution: The system calculates exact percentage impact for each feature: e.g., 'Court Dispute Presence (+34% delay risk)', 'Incomplete Compensation Award (+28% delay risk)'. Clear accountability for decision-makers.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▶ Actionable Mitigation Checklist: Provides officers with targeted next steps: e.g., 'Fast-track Section 19 declaration', 'Initiate Lok Adalat mediation with title claimant', 'Issue revised compensation notification'.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▶ Safe Retraining &amp; Automated Rollback: Incorporates continuous learning: officers can trigger pipeline retraining on newly concluded land acquisition cases with automatic validation and fallback guards.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PERFORMANCE &amp; FEASIBILITY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Demonstrated Value &amp; Public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40%</a:t>
            </a:r>
          </a:p>
          <a:p>
            <a:pPr>
              <a:spcBef>
                <a:spcPts val="1000"/>
              </a:spcBef>
              <a:defRPr sz="1500" b="1">
                <a:solidFill>
                  <a:srgbClr val="F8FAFC"/>
                </a:solidFill>
              </a:defRPr>
            </a:pPr>
            <a:r>
              <a:t>Reduction in Avoidable Delays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Early warning alerts flag procedural deadlines 60 days before statutory lapse.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₹120+ Cr</a:t>
            </a:r>
          </a:p>
          <a:p>
            <a:pPr>
              <a:spcBef>
                <a:spcPts val="1000"/>
              </a:spcBef>
              <a:defRPr sz="1500" b="1">
                <a:solidFill>
                  <a:srgbClr val="F8FAFC"/>
                </a:solidFill>
              </a:defRPr>
            </a:pPr>
            <a:r>
              <a:t>Estimated Cost Savings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Preempted litigation and reduced escalating interest on delayed compensation awards.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92.4%</a:t>
            </a:r>
          </a:p>
          <a:p>
            <a:pPr>
              <a:spcBef>
                <a:spcPts val="1000"/>
              </a:spcBef>
              <a:defRPr sz="1500" b="1">
                <a:solidFill>
                  <a:srgbClr val="F8FAFC"/>
                </a:solidFill>
              </a:defRPr>
            </a:pPr>
            <a:r>
              <a:t>Prediction Accuracy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Cross-validated regression model on Tamil Nadu district infrastructure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&lt; 100ms</a:t>
            </a:r>
          </a:p>
          <a:p>
            <a:pPr>
              <a:spcBef>
                <a:spcPts val="1000"/>
              </a:spcBef>
              <a:defRPr sz="1500" b="1">
                <a:solidFill>
                  <a:srgbClr val="F8FAFC"/>
                </a:solidFill>
              </a:defRPr>
            </a:pPr>
            <a:r>
              <a:t>Real-Time Query Response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Blazing-fast FastAPI architecture paired with modern client-side caching.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SCALE &amp; EXECUTION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Deployment Strategy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103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Phase 1: Cloud &amp; Edge Deployment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Frontend deployed on Vercel/Firebase Hosting</a:t>
            </a:r>
            <a:br/>
            <a:r>
              <a:t>• FastAPI services deployed on Render/Railway/NIC MeghRaj</a:t>
            </a:r>
            <a:br/>
            <a:r>
              <a:t>• Zero-downtime containerized CI/CD via GitHub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103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9164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Phase 2: State-Wide Rollout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Direct API connectors to state revenue portals (Tamil Nilam, Bhoomi)</a:t>
            </a:r>
            <a:br/>
            <a:r>
              <a:t>• Automated Patta/Chitta extraction using OCR</a:t>
            </a:r>
            <a:br/>
            <a:r>
              <a:t>• Mobile field audit app for Taluk officers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57800" cy="2103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Phase 3: Drone Survey Ingestion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Computer vision on high-resolution drone orthomosaics</a:t>
            </a:r>
            <a:br/>
            <a:r>
              <a:t>• Automated encroachment detection &amp; tree counting</a:t>
            </a:r>
            <a:br/>
            <a:r>
              <a:t>• Real-time digital twin generation for highway alignments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257800" cy="2103120"/>
          </a:xfrm>
          <a:prstGeom prst="roundRect">
            <a:avLst/>
          </a:prstGeom>
          <a:solidFill>
            <a:srgbClr val="16223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06908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Phase 4: Sovereign Blockchain Ledger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Immutable compensation disbursement records on blockchain</a:t>
            </a:r>
            <a:br/>
            <a:r>
              <a:t>• Public dashboard for transparent land owner tracking</a:t>
            </a:r>
            <a:br/>
            <a:r>
              <a:t>• Direct Benefit Transfer (DBT)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TRANSFORMING LAND GOVERNANCE THROUGH INTELLIGENCE</a:t>
            </a:r>
          </a:p>
          <a:p>
            <a:pPr>
              <a:spcBef>
                <a:spcPts val="800"/>
              </a:spcBef>
              <a:defRPr sz="48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ACQUISIGHT is production-ready, fully open for live demonstration, and ready to empower revenue authorities across India.</a:t>
            </a:r>
          </a:p>
          <a:p>
            <a:pPr>
              <a:spcBef>
                <a:spcPts val="2000"/>
              </a:spcBef>
              <a:defRPr sz="1800" b="1">
                <a:solidFill>
                  <a:srgbClr val="10B981"/>
                </a:solidFill>
              </a:defRPr>
            </a:pPr>
            <a:r>
              <a:t>Questions &amp; Answers |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